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928"/>
    <p:restoredTop sz="85302"/>
  </p:normalViewPr>
  <p:slideViewPr>
    <p:cSldViewPr snapToGrid="0" snapToObjects="1">
      <p:cViewPr>
        <p:scale>
          <a:sx n="133" d="100"/>
          <a:sy n="133" d="100"/>
        </p:scale>
        <p:origin x="188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181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</a:t>
            </a:r>
            <a:r>
              <a:rPr lang="zh-TW" altLang="en-US" sz="12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併發量以上</a:t>
            </a:r>
            <a:endParaRPr lang="en-US" altLang="zh-TW" sz="1200" dirty="0">
              <a:solidFill>
                <a:srgbClr val="57657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" altLang="zh-TW" b="1" dirty="0">
                <a:effectLst/>
              </a:rPr>
              <a:t>QPS (Queries Per Second)</a:t>
            </a:r>
            <a:r>
              <a:rPr lang="zh-TW" altLang="en" dirty="0"/>
              <a:t>：</a:t>
            </a:r>
            <a:r>
              <a:rPr lang="zh-TW" altLang="en-US" dirty="0"/>
              <a:t>每秒請求數，指系統每秒鐘處理的請求總 </a:t>
            </a:r>
            <a:r>
              <a:rPr lang="en-US" altLang="zh-TW" dirty="0"/>
              <a:t>(workflow</a:t>
            </a:r>
            <a:r>
              <a:rPr lang="zh-TW" altLang="en-US" dirty="0"/>
              <a:t>向</a:t>
            </a:r>
            <a:r>
              <a:rPr lang="en-US" altLang="zh-TW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site/scul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20040"/>
            <a:ext cx="2560320" cy="4864608"/>
          </a:xfrm>
          <a:prstGeom prst="rect">
            <a:avLst/>
          </a:prstGeom>
        </p:spPr>
      </p:pic>
      <p:pic>
        <p:nvPicPr>
          <p:cNvPr id="3" name="Image 1" descr="../site/logo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"/>
            <a:ext cx="822960" cy="3657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325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KGI FINANCIAL HOLDING  ×  DIFY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打造凱基集團的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企業級 AI 應用平台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108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以單一平台支援集團內各子公司的 AI 應用，兼顧資料安全、合規治理與開發速度，從原型快速走向正式上線。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10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2026.09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WHY DIFY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已在金融業</a:t>
            </a:r>
            <a:r>
              <a:rPr lang="en-US" sz="24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大規模驗證</a:t>
            </a:r>
            <a:r>
              <a:rPr lang="en-US" sz="24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的企業級 AI 平台</a:t>
            </a:r>
            <a:endParaRPr lang="en-US" sz="2400" dirty="0"/>
          </a:p>
        </p:txBody>
      </p:sp>
      <p:pic>
        <p:nvPicPr>
          <p:cNvPr id="4" name="Image 0" descr="../site/logo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365760"/>
            <a:ext cx="57607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773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59E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凱基金控  ·  Confidential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9E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20240" cy="3154680"/>
          </a:xfrm>
          <a:prstGeom prst="roundRect">
            <a:avLst>
              <a:gd name="adj" fmla="val 4762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276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個事業單位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國際領先銀行共用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429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多次獲國際銀行獎項的領先銀行，於 Red Hat OpenShift 運行 Dify Enterprise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560320" y="1371600"/>
            <a:ext cx="1920240" cy="3154680"/>
          </a:xfrm>
          <a:prstGeom prst="roundRect">
            <a:avLst>
              <a:gd name="adj" fmla="val 4762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920" y="162763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78892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278892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單一組織使用者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2788920" y="3429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單一企業內超過萬人使用，平台穩定性與治理能力經過驗證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63440" y="1371600"/>
            <a:ext cx="1920240" cy="3154680"/>
          </a:xfrm>
          <a:prstGeom prst="roundRect">
            <a:avLst>
              <a:gd name="adj" fmla="val 4762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6276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9204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489204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已銷售與部署案例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4892040" y="3429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政府、銀行、金融監理、保險與各產業企業客戶</a:t>
            </a:r>
            <a:endParaRPr lang="en-US" sz="105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946A4EBE-2302-5205-B2AA-BA60F42EE417}"/>
              </a:ext>
            </a:extLst>
          </p:cNvPr>
          <p:cNvSpPr/>
          <p:nvPr/>
        </p:nvSpPr>
        <p:spPr>
          <a:xfrm>
            <a:off x="6766560" y="1371600"/>
            <a:ext cx="1920240" cy="3154680"/>
          </a:xfrm>
          <a:prstGeom prst="roundRect">
            <a:avLst>
              <a:gd name="adj" fmla="val 4762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D9B3912B-6297-F519-0269-6386D6E3D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1627632"/>
            <a:ext cx="274320" cy="274320"/>
          </a:xfrm>
          <a:prstGeom prst="rect">
            <a:avLst/>
          </a:prstGeom>
        </p:spPr>
      </p:pic>
      <p:sp>
        <p:nvSpPr>
          <p:cNvPr id="29" name="Text 17">
            <a:extLst>
              <a:ext uri="{FF2B5EF4-FFF2-40B4-BE49-F238E27FC236}">
                <a16:creationId xmlns:a16="http://schemas.microsoft.com/office/drawing/2014/main" id="{4D4D772A-2E08-C475-7D46-0E3A81657E40}"/>
              </a:ext>
            </a:extLst>
          </p:cNvPr>
          <p:cNvSpPr txBox="1"/>
          <p:nvPr/>
        </p:nvSpPr>
        <p:spPr>
          <a:xfrm>
            <a:off x="699516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7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3530DF79-58A7-240B-1B54-EB6EFB9CEEBB}"/>
              </a:ext>
            </a:extLst>
          </p:cNvPr>
          <p:cNvSpPr txBox="1"/>
          <p:nvPr/>
        </p:nvSpPr>
        <p:spPr>
          <a:xfrm>
            <a:off x="699516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生態系</a:t>
            </a:r>
            <a:endParaRPr lang="en-US" sz="125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44514812-D605-62B0-50D1-71D56222607F}"/>
              </a:ext>
            </a:extLst>
          </p:cNvPr>
          <p:cNvSpPr txBox="1"/>
          <p:nvPr/>
        </p:nvSpPr>
        <p:spPr>
          <a:xfrm>
            <a:off x="6995160" y="3429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模型、工具、資料來源外掛即插即用，快速串接既有系統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BUILT FOR FINANCIAL GROUPS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金控集團導入 AI 的關鍵考量：</a:t>
            </a:r>
            <a:r>
              <a:rPr lang="en-US" sz="24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解法</a:t>
            </a:r>
            <a:endParaRPr lang="en-US" sz="2400" dirty="0"/>
          </a:p>
        </p:txBody>
      </p:sp>
      <p:pic>
        <p:nvPicPr>
          <p:cNvPr id="4" name="Image 0" descr="../site/logo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365760"/>
            <a:ext cx="57607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773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59E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凱基金控  ·  Confidential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9E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2704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資料主權 · 地端部署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1764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 VPC 或 Air-gapped </a:t>
            </a:r>
            <a:r>
              <a:rPr lang="en-US" sz="1050" dirty="0" err="1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地端離線運行，可連接地端自建模型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63440" y="13258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52704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40680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合規與身分治理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5440680" y="1764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Type II、ISO 27001；SSO、RBAC 細至 Workflow 層級、SCIM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2423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624328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2560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個資與稽核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234440" y="2862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提示紀錄可遮蔽個資；防竄改 Audit Log 串接 SIEM；資料不用於模型訓練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663440" y="2423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624328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40680" y="2560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集團多子公司共用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5440680" y="2862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單一叢集服務多個事業單位，租戶層級的配額、計費與存取政策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57200" y="3520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721608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34440" y="3657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模型中立 · 多模態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1234440" y="3959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可切換頂尖 LLM 與地端模型；支援 TTS、STT 多模態；Marketplace 與 MCP 擴充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663440" y="3520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721608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440680" y="3657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× 人工覆核</a:t>
            </a:r>
            <a:endParaRPr lang="en-US" sz="1350" dirty="0"/>
          </a:p>
        </p:txBody>
      </p:sp>
      <p:sp>
        <p:nvSpPr>
          <p:cNvPr id="30" name="Text 21"/>
          <p:cNvSpPr txBox="1"/>
          <p:nvPr/>
        </p:nvSpPr>
        <p:spPr>
          <a:xfrm>
            <a:off x="5440680" y="3959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/ Agent 搭配 Human Input 節點，自動處理與人工審核並行，全程可追蹤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FSI CUSTOMER STORIES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金融業</a:t>
            </a:r>
            <a:r>
              <a:rPr lang="en-US" sz="24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實證案例</a:t>
            </a:r>
            <a:endParaRPr lang="en-US" sz="2400" dirty="0"/>
          </a:p>
        </p:txBody>
      </p:sp>
      <p:pic>
        <p:nvPicPr>
          <p:cNvPr id="4" name="Image 0" descr="../site/logo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365760"/>
            <a:ext cx="57607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773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59E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凱基金控  ·  Confidential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9E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755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國際領先銀行 · Red Hat OpenShift 自建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212848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事業單位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901952" y="2212848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 txBox="1"/>
          <p:nvPr/>
        </p:nvSpPr>
        <p:spPr>
          <a:xfrm>
            <a:off x="1901952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901952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使用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72384" y="2212848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 txBox="1"/>
          <p:nvPr/>
        </p:nvSpPr>
        <p:spPr>
          <a:xfrm>
            <a:off x="3072384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3072384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 Workflow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國際金融部門 RM 工作流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49300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客戶檔案、帳戶規劃、授信審批、競品分析與即時業務數據查詢；Dev→Prod 5 套環境，與核心系統同級治理。</a:t>
            </a:r>
            <a:endParaRPr lang="en-US" sz="10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87552" y="4133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每位 RM 準備客戶提案省 2 小時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663440" y="132588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 txBox="1"/>
          <p:nvPr/>
        </p:nvSpPr>
        <p:spPr>
          <a:xfrm>
            <a:off x="493776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INSURANCE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937760" y="1755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亞太大型壽險集團 · 18 個市場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937760" y="2212848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 txBox="1"/>
          <p:nvPr/>
        </p:nvSpPr>
        <p:spPr>
          <a:xfrm>
            <a:off x="4937760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4937760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部署叢集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108192" y="2212848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6"/>
          <p:cNvSpPr txBox="1"/>
          <p:nvPr/>
        </p:nvSpPr>
        <p:spPr>
          <a:xfrm>
            <a:off x="6108192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6108192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正式上線案例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7278624" y="2212848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29"/>
          <p:cNvSpPr txBox="1"/>
          <p:nvPr/>
        </p:nvSpPr>
        <p:spPr>
          <a:xfrm>
            <a:off x="7278624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7278624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早期導入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49377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保險業務員即時問答助理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4937760" y="349300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客戶面談時業務員以自然語言提問，Chatbot 即時回覆並引用保單條款原文；BA/DA 可自行開發應用。</a:t>
            </a:r>
            <a:endParaRPr lang="en-US" sz="105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187952"/>
            <a:ext cx="182880" cy="18288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5193792" y="4133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已擴展至香港、新加坡，推進泰國、韓國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REFERENCE USE CASES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凱基應用方向 × </a:t>
            </a:r>
            <a:r>
              <a:rPr lang="en-US" sz="24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參考案例</a:t>
            </a:r>
            <a:endParaRPr lang="en-US" sz="2400" dirty="0"/>
          </a:p>
        </p:txBody>
      </p:sp>
      <p:pic>
        <p:nvPicPr>
          <p:cNvPr id="4" name="Image 0" descr="../site/logo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365760"/>
            <a:ext cx="57607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773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59E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凱基金控  ·  Confidential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9E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188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應用方向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288036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Dify 參考案例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444752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 txBox="1"/>
          <p:nvPr/>
        </p:nvSpPr>
        <p:spPr>
          <a:xfrm>
            <a:off x="640080" y="14447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集團知識問答 · 法遵查詢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8803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金融監理機關 Enterprise RAG Chatbot；Knowledge Pipeline 整理檔案、網站與雲端硬碟內容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892808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 txBox="1"/>
          <p:nvPr/>
        </p:nvSpPr>
        <p:spPr>
          <a:xfrm>
            <a:off x="640080" y="18928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研究報告 · 財報洞察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880360" y="189280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Insight Generation 依財報評估企業；Article Writer、Market Commentary Chatbot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340864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 txBox="1"/>
          <p:nvPr/>
        </p:nvSpPr>
        <p:spPr>
          <a:xfrm>
            <a:off x="640080" y="23408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授信審批 · 理賠審核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880360" y="23408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領先銀行授信審批 Workflow；貸款審核 Workflow 門檻內自動、超過門檻轉人工審核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788920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 txBox="1"/>
          <p:nvPr/>
        </p:nvSpPr>
        <p:spPr>
          <a:xfrm>
            <a:off x="640080" y="2788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客服品質 · 銷售合規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880360" y="278892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Surveillance 自動檢查每通銷售電話，確保合規並找出改善點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236976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0080" y="32369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理財建議 · 數位服務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2880360" y="32369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Recommendation Engine 個人化商品推薦與投資組合分析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685032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2"/>
          <p:cNvSpPr txBox="1"/>
          <p:nvPr/>
        </p:nvSpPr>
        <p:spPr>
          <a:xfrm>
            <a:off x="640080" y="36850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管理層營運查詢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2880360" y="368503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 以自然語言查詢數據，並自動產生圖表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4133088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5"/>
          <p:cNvSpPr txBox="1"/>
          <p:nvPr/>
        </p:nvSpPr>
        <p:spPr>
          <a:xfrm>
            <a:off x="640080" y="4133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合約與文件檢核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2880360" y="41330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合約比對 Workflow：Document Extractor 擷取關鍵欄位、產出比對表，保留稽核軌跡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MARKETPLACE EXTENSIONS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語音與文件辨識：</a:t>
            </a:r>
            <a:r>
              <a:rPr lang="en-US" sz="240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外掛擴充</a:t>
            </a:r>
            <a:endParaRPr lang="en-US" sz="2400" dirty="0"/>
          </a:p>
        </p:txBody>
      </p:sp>
      <p:pic>
        <p:nvPicPr>
          <p:cNvPr id="4" name="Image 0" descr="../site/logo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365760"/>
            <a:ext cx="57607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773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59E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資料來源：Dify Marketplace（marketplace.dify.ai）、Dify 官方部落格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9E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554480" cy="2331720"/>
          </a:xfrm>
          <a:prstGeom prst="roundRect">
            <a:avLst>
              <a:gd name="adj" fmla="val 5882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7048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1892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 OCR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官方外掛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5694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文字辨識與文件解析，可用於 Workflow、Chatflow 與 Agent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3192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0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預設連 PaddleOCR 雲端服務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125980" y="1325880"/>
            <a:ext cx="1554480" cy="2331720"/>
          </a:xfrm>
          <a:prstGeom prst="roundRect">
            <a:avLst>
              <a:gd name="adj" fmla="val 5882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" y="152704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308860" y="1892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掃描文件解析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230886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MinerU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2308860" y="25694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自動辨識掃描 PDF 並啟用 OCR，輸出 Markdown / JSON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2308860" y="33192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0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可連接地端部署服務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794760" y="1325880"/>
            <a:ext cx="1554480" cy="2331720"/>
          </a:xfrm>
          <a:prstGeom prst="roundRect">
            <a:avLst>
              <a:gd name="adj" fmla="val 5882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152704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977640" y="1892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語音轉文字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397764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FunASR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3977640" y="25694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多語言語音辨識，音訊不需送至外部轉錄服務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3977640" y="33192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0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私有部署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5463540" y="1325880"/>
            <a:ext cx="1554480" cy="2331720"/>
          </a:xfrm>
          <a:prstGeom prst="roundRect">
            <a:avLst>
              <a:gd name="adj" fmla="val 5882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6420" y="152704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46420" y="1892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說話者辨識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564642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DupDub</a:t>
            </a:r>
            <a:endParaRPr lang="en-US" sz="950" dirty="0"/>
          </a:p>
        </p:txBody>
      </p:sp>
      <p:sp>
        <p:nvSpPr>
          <p:cNvPr id="29" name="Text 22"/>
          <p:cNvSpPr txBox="1"/>
          <p:nvPr/>
        </p:nvSpPr>
        <p:spPr>
          <a:xfrm>
            <a:off x="5646420" y="25694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Speaker ID 工具，於 Workflow 中辨識說話者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5646420" y="33192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0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雲端服務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7132320" y="1325880"/>
            <a:ext cx="1554480" cy="2331720"/>
          </a:xfrm>
          <a:prstGeom prst="roundRect">
            <a:avLst>
              <a:gd name="adj" fmla="val 5882"/>
            </a:avLst>
          </a:prstGeom>
          <a:solidFill>
            <a:srgbClr val="F2F3F8"/>
          </a:solidFill>
          <a:ln w="9525">
            <a:solidFill>
              <a:srgbClr val="F2F3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152704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315200" y="1892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0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即時語音互動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731520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Conversational AI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7315200" y="25694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7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低延遲即時語音 AI Agent，搭配 STT / TTS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7315200" y="33192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0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雲端服務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457200" y="379476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0033FF"/>
          </a:solidFill>
          <a:ln w="9525">
            <a:solidFill>
              <a:srgbClr val="0033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0"/>
          <p:cNvSpPr txBox="1"/>
          <p:nvPr/>
        </p:nvSpPr>
        <p:spPr>
          <a:xfrm>
            <a:off x="685800" y="3877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D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169664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033272" y="4096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 POC</a:t>
            </a:r>
            <a:endParaRPr lang="en-US" sz="1150" dirty="0"/>
          </a:p>
        </p:txBody>
      </p:sp>
      <p:sp>
        <p:nvSpPr>
          <p:cNvPr id="41" name="Text 32"/>
          <p:cNvSpPr txBox="1"/>
          <p:nvPr/>
        </p:nvSpPr>
        <p:spPr>
          <a:xfrm>
            <a:off x="1033272" y="4325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針對關鍵情境快速建立原型</a:t>
            </a:r>
            <a:endParaRPr lang="en-US" sz="9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3280" y="4169664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3730752" y="4096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分層培訓體系</a:t>
            </a:r>
            <a:endParaRPr lang="en-US" sz="1150" dirty="0"/>
          </a:p>
        </p:txBody>
      </p:sp>
      <p:sp>
        <p:nvSpPr>
          <p:cNvPr id="44" name="Text 34"/>
          <p:cNvSpPr txBox="1"/>
          <p:nvPr/>
        </p:nvSpPr>
        <p:spPr>
          <a:xfrm>
            <a:off x="3730752" y="4325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→ Professional → Advanced</a:t>
            </a:r>
            <a:endParaRPr lang="en-US" sz="9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60" y="4169664"/>
            <a:ext cx="237744" cy="237744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428232" y="4096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同時區團隊</a:t>
            </a:r>
            <a:endParaRPr lang="en-US" sz="1150" dirty="0"/>
          </a:p>
        </p:txBody>
      </p:sp>
      <p:sp>
        <p:nvSpPr>
          <p:cNvPr id="47" name="Text 36"/>
          <p:cNvSpPr txBox="1"/>
          <p:nvPr/>
        </p:nvSpPr>
        <p:spPr>
          <a:xfrm>
            <a:off x="6428232" y="4325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/ R&amp;D / Support 同時區支援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460</Words>
  <Application>Microsoft Macintosh PowerPoint</Application>
  <PresentationFormat>如螢幕大小 (16:9)</PresentationFormat>
  <Paragraphs>122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凱基金控 × Dify</dc:title>
  <dc:subject>PptxGenJS Presentation</dc:subject>
  <dc:creator>PptxGenJS</dc:creator>
  <cp:lastModifiedBy>Alvin Wu</cp:lastModifiedBy>
  <cp:revision>4</cp:revision>
  <dcterms:created xsi:type="dcterms:W3CDTF">2026-09-16T15:17:34Z</dcterms:created>
  <dcterms:modified xsi:type="dcterms:W3CDTF">2026-09-17T01:41:17Z</dcterms:modified>
</cp:coreProperties>
</file>